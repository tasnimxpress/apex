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C99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4577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"/>
              </a:rPr>
              <a:t>Apex Asset Management</a:t>
            </a:r>
          </a:p>
          <a:p>
            <a:r>
              <a:rPr sz="2600" b="0" i="0">
                <a:solidFill>
                  <a:srgbClr val="CFDAE6"/>
                </a:solidFill>
                <a:latin typeface="Calibri"/>
              </a:rPr>
              <a:t>Where growth leaks — and the three moves that plug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45775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E7EDF3"/>
                </a:solidFill>
                <a:latin typeface="Calibri"/>
              </a:rPr>
              <a:t>Senior Data Analyst case study  ·  Customer, fund &amp; RM analytics</a:t>
            </a:r>
          </a:p>
          <a:p>
            <a:r>
              <a:rPr sz="1400" b="0" i="0">
                <a:solidFill>
                  <a:srgbClr val="E7EDF3"/>
                </a:solidFill>
                <a:latin typeface="Calibri"/>
              </a:rPr>
              <a:t>Data as-of 31 May 2026  ·  12,229 accounts · 8,570 customers · 4 funds · 16 RMs</a:t>
            </a:r>
          </a:p>
          <a:p>
            <a:r>
              <a:rPr sz="1200" b="0" i="0">
                <a:solidFill>
                  <a:srgbClr val="E7EDF3"/>
                </a:solidFill>
                <a:latin typeface="Calibri"/>
              </a:rPr>
              <a:t>Reproduced from cleaned source data; independently QA-validated (Gate 1 &amp; Gate 2 PASS)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2E5A87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222A33"/>
                </a:solidFill>
                <a:latin typeface="Calibri"/>
              </a:rPr>
              <a:t>Apex's growth problem is a retention problem, not acquisition</a:t>
            </a:r>
          </a:p>
        </p:txBody>
      </p:sp>
      <p:pic>
        <p:nvPicPr>
          <p:cNvPr id="5" name="Picture 4" descr="02_aum_made_vs_l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40576"/>
            <a:ext cx="6949440" cy="38912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691640"/>
            <a:ext cx="4206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2E5A87"/>
                </a:solidFill>
                <a:latin typeface="Calibri"/>
              </a:rPr>
              <a:t>+৳249.3 Cr</a:t>
            </a:r>
            <a:r>
              <a:rPr sz="1500" b="0" i="0">
                <a:solidFill>
                  <a:srgbClr val="222A33"/>
                </a:solidFill>
                <a:latin typeface="Calibri"/>
              </a:rPr>
              <a:t> lifetime net flow — money is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being gathered fast (+৳37.8 Cr in 2025 alone)…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9A3B5B"/>
                </a:solidFill>
                <a:latin typeface="Calibri"/>
              </a:rPr>
              <a:t>…but it leaks back out.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2E5A87"/>
                </a:solidFill>
                <a:latin typeface="Calibri"/>
              </a:rPr>
              <a:t>1 fund grows; 3 leak.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5A636E"/>
                </a:solidFill>
                <a:latin typeface="Calibri"/>
              </a:rPr>
              <a:t>Fixed Income gathers AND keeps; Capital Growth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5A636E"/>
                </a:solidFill>
                <a:latin typeface="Calibri"/>
              </a:rPr>
              <a:t>posts +৳68 Cr yet loses 47% — a leaky bucket.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2E5A87"/>
                </a:solidFill>
                <a:latin typeface="Calibri"/>
              </a:rPr>
              <a:t>The base is single-fund (~82%)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5A636E"/>
                </a:solidFill>
                <a:latin typeface="Calibri"/>
              </a:rPr>
              <a:t>and a few RMs out-acquire what they retain.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1">
                <a:solidFill>
                  <a:srgbClr val="5A636E"/>
                </a:solidFill>
                <a:latin typeface="Calibri"/>
              </a:rPr>
              <a:t>Bars = lifetime net flow (Purchase − Surrender) by fund; label = strict churn %; #rank = durable-growth composite. ‘Performance’ = flow/retention, not investment return (no NAV data).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2E5A87"/>
                </a:solidFill>
                <a:latin typeface="Calibri"/>
              </a:rPr>
              <a:t>METHODOLOGY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222A33"/>
                </a:solidFill>
                <a:latin typeface="Calibri"/>
              </a:rPr>
              <a:t>How we measured — and one assumption that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5778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2E5A87"/>
                </a:solidFill>
                <a:latin typeface="Calibri"/>
              </a:rPr>
              <a:t>Data:</a:t>
            </a:r>
            <a:r>
              <a:rPr sz="1500" b="0" i="0">
                <a:solidFill>
                  <a:srgbClr val="222A33"/>
                </a:solidFill>
                <a:latin typeface="Calibri"/>
              </a:rPr>
              <a:t> 12,229 accounts · 8,570 customers (by mobile) ·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5A636E"/>
                </a:solidFill>
                <a:latin typeface="Calibri"/>
              </a:rPr>
              <a:t>231k transactions · 4 funds · 16 official RMs.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2E5A87"/>
                </a:solidFill>
                <a:latin typeface="Calibri"/>
              </a:rPr>
              <a:t>Cleaned &amp; reconciled:</a:t>
            </a:r>
            <a:r>
              <a:rPr sz="1500" b="0" i="0">
                <a:solidFill>
                  <a:srgbClr val="222A33"/>
                </a:solidFill>
                <a:latin typeface="Calibri"/>
              </a:rPr>
              <a:t> flow totals tie to the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5A636E"/>
                </a:solidFill>
                <a:latin typeface="Calibri"/>
              </a:rPr>
              <a:t>cent across raw → ledger → monthly panel; 3 unknown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5A636E"/>
                </a:solidFill>
                <a:latin typeface="Calibri"/>
              </a:rPr>
              <a:t>accounts quarantined; anomalies flagged, never dropped.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2E5A87"/>
                </a:solidFill>
                <a:latin typeface="Calibri"/>
              </a:rPr>
              <a:t>Beyond the 4 given formulas:</a:t>
            </a:r>
            <a:r>
              <a:rPr sz="1500" b="0" i="0">
                <a:solidFill>
                  <a:srgbClr val="222A33"/>
                </a:solidFill>
                <a:latin typeface="Calibri"/>
              </a:rPr>
              <a:t> cohort survival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5A636E"/>
                </a:solidFill>
                <a:latin typeface="Calibri"/>
              </a:rPr>
              <a:t>(Kaplan–Meier), SIP persistency curves, customer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5A636E"/>
                </a:solidFill>
                <a:latin typeface="Calibri"/>
              </a:rPr>
              <a:t>clustering (k=4, stable ARI=1.0), RM acquisition quality.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00200"/>
            <a:ext cx="5303520" cy="4206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600200"/>
            <a:ext cx="91440" cy="4206240"/>
          </a:xfrm>
          <a:prstGeom prst="rect">
            <a:avLst/>
          </a:prstGeom>
          <a:solidFill>
            <a:srgbClr val="C99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28800"/>
            <a:ext cx="47548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C9913B"/>
                </a:solidFill>
                <a:latin typeface="Calibri"/>
              </a:rPr>
              <a:t>KEY ASSUMPTION — point-in-time retention</a:t>
            </a:r>
          </a:p>
          <a:p>
            <a:r>
              <a:rPr sz="1250" b="0" i="0">
                <a:solidFill>
                  <a:srgbClr val="222A33"/>
                </a:solidFill>
                <a:latin typeface="Calibri"/>
              </a:rPr>
              <a:t>Account status is a TODAY snapshot. Measuring last</a:t>
            </a:r>
          </a:p>
          <a:p>
            <a:r>
              <a:rPr sz="1250" b="0" i="0">
                <a:solidFill>
                  <a:srgbClr val="222A33"/>
                </a:solidFill>
                <a:latin typeface="Calibri"/>
              </a:rPr>
              <a:t>year's retention from today's status would be wrong.</a:t>
            </a:r>
          </a:p>
          <a:p>
            <a:r>
              <a:rPr sz="1250" b="0" i="0">
                <a:solidFill>
                  <a:srgbClr val="222A33"/>
                </a:solidFill>
                <a:latin typeface="Calibri"/>
              </a:rPr>
              <a:t>We rebuild each account's status AT the measurement</a:t>
            </a:r>
          </a:p>
          <a:p>
            <a:r>
              <a:rPr sz="1250" b="0" i="0">
                <a:solidFill>
                  <a:srgbClr val="222A33"/>
                </a:solidFill>
                <a:latin typeface="Calibri"/>
              </a:rPr>
              <a:t>date from dated close / discontinue events.</a:t>
            </a:r>
          </a:p>
          <a:p>
            <a:r>
              <a:rPr sz="1250" b="0" i="0">
                <a:solidFill>
                  <a:srgbClr val="222A33"/>
                </a:solidFill>
                <a:latin typeface="Calibri"/>
              </a:rPr>
              <a:t/>
            </a:r>
          </a:p>
          <a:p>
            <a:r>
              <a:rPr sz="1250" b="1" i="0">
                <a:solidFill>
                  <a:srgbClr val="222A33"/>
                </a:solidFill>
                <a:latin typeface="Calibri"/>
              </a:rPr>
              <a:t>Result: the case cohort (May-24 → May-25) is</a:t>
            </a:r>
          </a:p>
          <a:p>
            <a:r>
              <a:rPr sz="1250" b="0" i="0">
                <a:solidFill>
                  <a:srgbClr val="222A33"/>
                </a:solidFill>
                <a:latin typeface="Calibri"/>
              </a:rPr>
              <a:t>84.6% retained (115/136) point-in-time — vs 93/136</a:t>
            </a:r>
          </a:p>
          <a:p>
            <a:r>
              <a:rPr sz="1250" b="0" i="0">
                <a:solidFill>
                  <a:srgbClr val="222A33"/>
                </a:solidFill>
                <a:latin typeface="Calibri"/>
              </a:rPr>
              <a:t>in a naïve snapshot. We use the rigorous number.</a:t>
            </a:r>
          </a:p>
          <a:p>
            <a:r>
              <a:rPr sz="1250" b="0" i="0">
                <a:solidFill>
                  <a:srgbClr val="222A33"/>
                </a:solidFill>
                <a:latin typeface="Calibri"/>
              </a:rPr>
              <a:t/>
            </a:r>
          </a:p>
          <a:p>
            <a:r>
              <a:rPr sz="1250" b="1" i="0">
                <a:solidFill>
                  <a:srgbClr val="222A33"/>
                </a:solidFill>
                <a:latin typeface="Calibri"/>
              </a:rPr>
              <a:t>Churn = Closed + Discontinued (headline).</a:t>
            </a:r>
          </a:p>
          <a:p>
            <a:r>
              <a:rPr sz="1250" b="0" i="0">
                <a:solidFill>
                  <a:srgbClr val="222A33"/>
                </a:solidFill>
                <a:latin typeface="Calibri"/>
              </a:rPr>
              <a:t>Inactive shown only as a sensitivity. ‘Performance’</a:t>
            </a:r>
          </a:p>
          <a:p>
            <a:r>
              <a:rPr sz="1250" b="0" i="0">
                <a:solidFill>
                  <a:srgbClr val="222A33"/>
                </a:solidFill>
                <a:latin typeface="Calibri"/>
              </a:rPr>
              <a:t>= flow / retention / engagement — NOT return.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35508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1">
                <a:solidFill>
                  <a:srgbClr val="5A636E"/>
                </a:solidFill>
                <a:latin typeface="Calibri"/>
              </a:rPr>
              <a:t>Single source of truth: definitions.yaml · every judgment call logged in decisions_log.md · reproduction in qa/qa_report.md.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2E5A87"/>
                </a:solidFill>
                <a:latin typeface="Calibri"/>
              </a:rPr>
              <a:t>FUND PERFORMANCE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222A33"/>
                </a:solidFill>
                <a:latin typeface="Calibri"/>
              </a:rPr>
              <a:t>Rank funds on durable growth, not on size</a:t>
            </a:r>
          </a:p>
        </p:txBody>
      </p:sp>
      <p:pic>
        <p:nvPicPr>
          <p:cNvPr id="5" name="Picture 4" descr="07_fund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44208"/>
            <a:ext cx="6675120" cy="33925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691640"/>
            <a:ext cx="44805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2E5A87"/>
                </a:solidFill>
                <a:latin typeface="Calibri"/>
              </a:rPr>
              <a:t>Composite (0–100)</a:t>
            </a:r>
            <a:r>
              <a:rPr sz="1500" b="0" i="0">
                <a:solidFill>
                  <a:srgbClr val="222A33"/>
                </a:solidFill>
                <a:latin typeface="Calibri"/>
              </a:rPr>
              <a:t> = net flow, 36-mo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5A636E"/>
                </a:solidFill>
                <a:latin typeface="Calibri"/>
              </a:rPr>
              <a:t>survival, SIP persistency, AUM, low churn.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2E5A87"/>
                </a:solidFill>
                <a:latin typeface="Calibri"/>
              </a:rPr>
              <a:t>#1 Fixed Income  99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5A636E"/>
                </a:solidFill>
                <a:latin typeface="Calibri"/>
              </a:rPr>
              <a:t>#2 Shariah Growth  59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5A636E"/>
                </a:solidFill>
                <a:latin typeface="Calibri"/>
              </a:rPr>
              <a:t>#3 Capital Growth  56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9A3B5B"/>
                </a:solidFill>
                <a:latin typeface="Calibri"/>
              </a:rPr>
              <a:t>#4 Balanced Opp.  18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222A33"/>
                </a:solidFill>
                <a:latin typeface="Calibri"/>
              </a:rPr>
              <a:t>Implication: </a:t>
            </a:r>
            <a:r>
              <a:rPr sz="1500" b="0" i="0">
                <a:solidFill>
                  <a:srgbClr val="222A33"/>
                </a:solidFill>
                <a:latin typeface="Calibri"/>
              </a:rPr>
              <a:t>defend the leaky funds —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5A636E"/>
                </a:solidFill>
                <a:latin typeface="Calibri"/>
              </a:rPr>
              <a:t>don't pour growth spend into the winner.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2E5A87"/>
                </a:solidFill>
                <a:latin typeface="Calibri"/>
              </a:rPr>
              <a:t>Owner: Head of Funds / PMs.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1">
                <a:solidFill>
                  <a:srgbClr val="5A636E"/>
                </a:solidFill>
                <a:latin typeface="Calibri"/>
              </a:rPr>
              <a:t>Composite weights favour durable growth (survival × persistency) over raw AUM; full scorecard in apex_analysis.ipynb §4.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A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9A3B5B"/>
                </a:solidFill>
                <a:latin typeface="Calibri"/>
              </a:rPr>
              <a:t>FUND PERFORMANCE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222A33"/>
                </a:solidFill>
                <a:latin typeface="Calibri"/>
              </a:rPr>
              <a:t>The leak is retention: cohorts fade, SIPs stop early</a:t>
            </a:r>
          </a:p>
        </p:txBody>
      </p:sp>
      <p:pic>
        <p:nvPicPr>
          <p:cNvPr id="5" name="Picture 4" descr="05_cohort_survival_by_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04145"/>
            <a:ext cx="5760720" cy="3524029"/>
          </a:xfrm>
          <a:prstGeom prst="rect">
            <a:avLst/>
          </a:prstGeom>
        </p:spPr>
      </p:pic>
      <p:pic>
        <p:nvPicPr>
          <p:cNvPr id="6" name="Picture 5" descr="02_sip_persistency_dec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44001"/>
            <a:ext cx="5669280" cy="34443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577839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9A3B5B"/>
                </a:solidFill>
                <a:latin typeface="Calibri"/>
              </a:rPr>
              <a:t>Capital Growth keeps only ~54% of a cohort to 3 years vs Fixed Income ~77%.</a:t>
            </a:r>
            <a:r>
              <a:rPr sz="1300" b="0" i="0">
                <a:solidFill>
                  <a:srgbClr val="222A33"/>
                </a:solidFill>
                <a:latin typeface="Calibri"/>
              </a:rPr>
              <a:t>  SIP persistency is 87.9% overall but attrition concentrates in the early months.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2E5A87"/>
                </a:solidFill>
                <a:latin typeface="Calibri"/>
              </a:rPr>
              <a:t>Move: </a:t>
            </a:r>
            <a:r>
              <a:rPr sz="1300" b="0" i="0">
                <a:solidFill>
                  <a:srgbClr val="222A33"/>
                </a:solidFill>
                <a:latin typeface="Calibri"/>
              </a:rPr>
              <a:t>auto-flag the FIRST missed installment in the monthly panel and fire a save-call; win-back team on Capital Growth (47.2% churn).  Owner: Head of Retention / Ops.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3E8E7E"/>
                </a:solidFill>
                <a:latin typeface="Calibri"/>
              </a:rPr>
              <a:t>CUSTOMERS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222A33"/>
                </a:solidFill>
                <a:latin typeface="Calibri"/>
              </a:rPr>
              <a:t>Four stable segments — the book is single-fund &amp; concentrated</a:t>
            </a:r>
          </a:p>
        </p:txBody>
      </p:sp>
      <p:pic>
        <p:nvPicPr>
          <p:cNvPr id="5" name="Picture 4" descr="03_segments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14512"/>
            <a:ext cx="6583680" cy="40519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691640"/>
            <a:ext cx="44805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3E8E7E"/>
                </a:solidFill>
                <a:latin typeface="Calibri"/>
              </a:rPr>
              <a:t>k=4 segments</a:t>
            </a:r>
            <a:r>
              <a:rPr sz="1500" b="0" i="0">
                <a:solidFill>
                  <a:srgbClr val="222A33"/>
                </a:solidFill>
                <a:latin typeface="Calibri"/>
              </a:rPr>
              <a:t> — stable across 3 seeds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5A636E"/>
                </a:solidFill>
                <a:latin typeface="Calibri"/>
              </a:rPr>
              <a:t>(ARI = 1.0; silhouette 0.42):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High-value / lump-sum tier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Committed SIP savers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Young, small-ticket mass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• Dormant non-SIP group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2E5A87"/>
                </a:solidFill>
                <a:latin typeface="Calibri"/>
              </a:rPr>
              <a:t>~82% hold ONE fund;</a:t>
            </a:r>
            <a:r>
              <a:rPr sz="1500" b="0" i="0">
                <a:solidFill>
                  <a:srgbClr val="222A33"/>
                </a:solidFill>
                <a:latin typeface="Calibri"/>
              </a:rPr>
              <a:t> top 10% of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5A636E"/>
                </a:solidFill>
                <a:latin typeface="Calibri"/>
              </a:rPr>
              <a:t>customers hold ~68% of AUM.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222A33"/>
                </a:solidFill>
                <a:latin typeface="Calibri"/>
              </a:rPr>
              <a:t>Each segment maps to a primary fund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5A636E"/>
                </a:solidFill>
                <a:latin typeface="Calibri"/>
              </a:rPr>
              <a:t>for targeted offers (see notebook §5/§7).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1">
                <a:solidFill>
                  <a:srgbClr val="5A636E"/>
                </a:solidFill>
                <a:latin typeface="Calibri"/>
              </a:rPr>
              <a:t>Clustering at customer (mobile) level on age, installment, tenor, onboarding amount (monetary log-scaled); k=2 rejected as trivial SIP/non-SIP split.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3E8E7E"/>
                </a:solidFill>
                <a:latin typeface="Calibri"/>
              </a:rPr>
              <a:t>CUSTOMERS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222A33"/>
                </a:solidFill>
                <a:latin typeface="Calibri"/>
              </a:rPr>
              <a:t>The cheapest AUM: a second fund to people who already trust us</a:t>
            </a:r>
          </a:p>
        </p:txBody>
      </p:sp>
      <p:pic>
        <p:nvPicPr>
          <p:cNvPr id="5" name="Picture 4" descr="04_cross_s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44206"/>
            <a:ext cx="6675120" cy="37925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691640"/>
            <a:ext cx="44805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>
                <a:solidFill>
                  <a:srgbClr val="2E5A87"/>
                </a:solidFill>
                <a:latin typeface="Calibri"/>
              </a:rPr>
              <a:t>Two sized plays, ready now: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3E8E7E"/>
                </a:solidFill>
                <a:latin typeface="Calibri"/>
              </a:rPr>
              <a:t>1 · Single → second fund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222A33"/>
                </a:solidFill>
                <a:latin typeface="Calibri"/>
              </a:rPr>
              <a:t>   4,251 customers  ≈ ৳5.1 Cr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5A636E"/>
                </a:solidFill>
                <a:latin typeface="Calibri"/>
              </a:rPr>
              <a:t>   start with 2,273 high-value leads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5A636E"/>
                </a:solidFill>
                <a:latin typeface="Calibri"/>
              </a:rPr>
              <a:t>   already under a cross-capable RM.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3E8E7E"/>
                </a:solidFill>
                <a:latin typeface="Calibri"/>
              </a:rPr>
              <a:t>2 · Non-SIP → SIP migration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222A33"/>
                </a:solidFill>
                <a:latin typeface="Calibri"/>
              </a:rPr>
              <a:t>   348 customers  ≈ ৳2.9 Cr/yr recurring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2E5A87"/>
                </a:solidFill>
                <a:latin typeface="Calibri"/>
              </a:rPr>
              <a:t>Owner: Head of Sales.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1">
                <a:solidFill>
                  <a:srgbClr val="5A636E"/>
                </a:solidFill>
                <a:latin typeface="Calibri"/>
              </a:rPr>
              <a:t>Taka = target count × explicit median ticket (2nd-fund ৳12,000; SIP annual ৳84,000). Reproducible; headline wallet excludes the overlapping warm-lead subset.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9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C9913B"/>
                </a:solidFill>
                <a:latin typeface="Calibri"/>
              </a:rPr>
              <a:t>RM PRODUCTIVITY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222A33"/>
                </a:solidFill>
                <a:latin typeface="Calibri"/>
              </a:rPr>
              <a:t>Reward retention, not raw sign-ups</a:t>
            </a:r>
          </a:p>
        </p:txBody>
      </p:sp>
      <p:pic>
        <p:nvPicPr>
          <p:cNvPr id="5" name="Picture 4" descr="01_rm_quadr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60" y="1600200"/>
            <a:ext cx="6363519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691640"/>
            <a:ext cx="4206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Volume × value, coloured by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2E5A87"/>
                </a:solidFill>
                <a:latin typeface="Calibri"/>
              </a:rPr>
              <a:t>1-year retention.</a:t>
            </a:r>
            <a:r>
              <a:rPr sz="1500" b="0" i="0">
                <a:solidFill>
                  <a:srgbClr val="222A33"/>
                </a:solidFill>
                <a:latin typeface="Calibri"/>
              </a:rPr>
              <a:t> Overall book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2E5A87"/>
                </a:solidFill>
                <a:latin typeface="Calibri"/>
              </a:rPr>
              <a:t>retention = 86.2%.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9A3B5B"/>
                </a:solidFill>
                <a:latin typeface="Calibri"/>
              </a:rPr>
              <a:t>Coach, don't celebrate: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5A636E"/>
                </a:solidFill>
                <a:latin typeface="Calibri"/>
              </a:rPr>
              <a:t>high-volume but below-median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5A636E"/>
                </a:solidFill>
                <a:latin typeface="Calibri"/>
              </a:rPr>
              <a:t>retention —</a:t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9A3B5B"/>
                </a:solidFill>
                <a:latin typeface="Calibri"/>
              </a:rPr>
              <a:t>MOHAMMAD JASIM AHMED, JANNATUL ISLAM.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 b="1" i="0">
                <a:solidFill>
                  <a:srgbClr val="2E5A87"/>
                </a:solidFill>
                <a:latin typeface="Calibri"/>
              </a:rPr>
              <a:t>Move: </a:t>
            </a:r>
            <a:r>
              <a:rPr sz="1500" b="0" i="0">
                <a:solidFill>
                  <a:srgbClr val="222A33"/>
                </a:solidFill>
                <a:latin typeface="Calibri"/>
              </a:rPr>
              <a:t>tie a slice of incentive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5A636E"/>
                </a:solidFill>
                <a:latin typeface="Calibri"/>
              </a:rPr>
              <a:t>to 1-yr retention.  Owner: Sales Mgr.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1">
                <a:solidFill>
                  <a:srgbClr val="5A636E"/>
                </a:solidFill>
                <a:latin typeface="Calibri"/>
              </a:rPr>
              <a:t>Acquisition attributed on Introducer role, 16 official RMs; 1-yr retention on cohorts old enough to observe it (onboarded ≤ as-of − 12m), reconstructed point-in-time.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99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C9913B"/>
                </a:solidFill>
                <a:latin typeface="Calibri"/>
              </a:rPr>
              <a:t>RM PRODUCTIVITY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222A33"/>
                </a:solidFill>
                <a:latin typeface="Calibri"/>
              </a:rPr>
              <a:t>A mild systemic dip — and where to deploy specialists</a:t>
            </a:r>
          </a:p>
        </p:txBody>
      </p:sp>
      <p:pic>
        <p:nvPicPr>
          <p:cNvPr id="5" name="Picture 4" descr="03_team_y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06089"/>
            <a:ext cx="7315200" cy="24859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1691640"/>
            <a:ext cx="3840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222A33"/>
                </a:solidFill>
                <a:latin typeface="Calibri"/>
              </a:rPr>
              <a:t>Team 1-yr retention dipped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2E5A87"/>
                </a:solidFill>
                <a:latin typeface="Calibri"/>
              </a:rPr>
              <a:t>across the 2021→2023 vintages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A636E"/>
                </a:solidFill>
                <a:latin typeface="Calibri"/>
              </a:rPr>
              <a:t>(≈90% → 84%) then recovered to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A636E"/>
                </a:solidFill>
                <a:latin typeface="Calibri"/>
              </a:rPr>
              <a:t>86.9% (2025) — a mild systemic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A636E"/>
                </a:solidFill>
                <a:latin typeface="Calibri"/>
              </a:rPr>
              <a:t>signal, not just two people.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222A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C9913B"/>
                </a:solidFill>
                <a:latin typeface="Calibri"/>
              </a:rPr>
              <a:t>Deploy high-retention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C9913B"/>
                </a:solidFill>
                <a:latin typeface="Calibri"/>
              </a:rPr>
              <a:t>specialists onto Capital Growth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A636E"/>
                </a:solidFill>
                <a:latin typeface="Calibri"/>
              </a:rPr>
              <a:t>(the leakiest fund) rather than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A636E"/>
                </a:solidFill>
                <a:latin typeface="Calibri"/>
              </a:rPr>
              <a:t>retraining them.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222A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2E5A87"/>
                </a:solidFill>
                <a:latin typeface="Calibri"/>
              </a:rPr>
              <a:t>Owner: Head of Sales.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35508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1">
                <a:solidFill>
                  <a:srgbClr val="5A636E"/>
                </a:solidFill>
                <a:latin typeface="Calibri"/>
              </a:rPr>
              <a:t>Net flow by introducing vintage rising (to +৳37.8 Cr in 2025); systemic vs individual separated so the fix matches the cause.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8585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>
                <a:solidFill>
                  <a:srgbClr val="2E5A87"/>
                </a:solidFill>
                <a:latin typeface="Calibri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111858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222A33"/>
                </a:solidFill>
                <a:latin typeface="Calibri"/>
              </a:rPr>
              <a:t>Five owner-assigned moves, sequenced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09728" cy="713232"/>
          </a:xfrm>
          <a:prstGeom prst="rect">
            <a:avLst/>
          </a:prstGeom>
          <a:solidFill>
            <a:srgbClr val="9A3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463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9A3B5B"/>
                </a:solidFill>
                <a:latin typeface="Calibri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600200"/>
            <a:ext cx="22860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222A33"/>
                </a:solidFill>
                <a:latin typeface="Calibri"/>
              </a:rPr>
              <a:t>Stop the leak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600200"/>
            <a:ext cx="5486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5A636E"/>
                </a:solidFill>
                <a:latin typeface="Calibri"/>
              </a:rPr>
              <a:t>Auto-flag first missed SIP installment + win-back on Capital Growth (47.2% churn)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600200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2E5A87"/>
                </a:solidFill>
                <a:latin typeface="Calibri"/>
              </a:rPr>
              <a:t>Head of Retention / PM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41448"/>
            <a:ext cx="109728" cy="713232"/>
          </a:xfrm>
          <a:prstGeom prst="rect">
            <a:avLst/>
          </a:prstGeom>
          <a:solidFill>
            <a:srgbClr val="3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41448"/>
            <a:ext cx="1463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3E8E7E"/>
                </a:solidFill>
                <a:latin typeface="Calibri"/>
              </a:rPr>
              <a:t>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441448"/>
            <a:ext cx="22860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222A33"/>
                </a:solidFill>
                <a:latin typeface="Calibri"/>
              </a:rPr>
              <a:t>Cheapest AUM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41448"/>
            <a:ext cx="5486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5A636E"/>
                </a:solidFill>
                <a:latin typeface="Calibri"/>
              </a:rPr>
              <a:t>Second-fund campaign to 4,251 single-fund customers (~৳5.1 Cr)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441448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2E5A87"/>
                </a:solidFill>
                <a:latin typeface="Calibri"/>
              </a:rPr>
              <a:t>Head of Sales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82696"/>
            <a:ext cx="109728" cy="713232"/>
          </a:xfrm>
          <a:prstGeom prst="rect">
            <a:avLst/>
          </a:prstGeom>
          <a:solidFill>
            <a:srgbClr val="C99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82696"/>
            <a:ext cx="1463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C9913B"/>
                </a:solidFill>
                <a:latin typeface="Calibri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282696"/>
            <a:ext cx="22860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222A33"/>
                </a:solidFill>
                <a:latin typeface="Calibri"/>
              </a:rPr>
              <a:t>Fix incentives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282696"/>
            <a:ext cx="5486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5A636E"/>
                </a:solidFill>
                <a:latin typeface="Calibri"/>
              </a:rPr>
              <a:t>Tie RM incentive to 1-yr retention (86%); coach 2 flagged 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282696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2E5A87"/>
                </a:solidFill>
                <a:latin typeface="Calibri"/>
              </a:rPr>
              <a:t>Sales Manager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123944"/>
            <a:ext cx="109728" cy="713232"/>
          </a:xfrm>
          <a:prstGeom prst="rect">
            <a:avLst/>
          </a:prstGeom>
          <a:solidFill>
            <a:srgbClr val="3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23944"/>
            <a:ext cx="1463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3E8E7E"/>
                </a:solidFill>
                <a:latin typeface="Calibri"/>
              </a:rPr>
              <a:t>NEXT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123944"/>
            <a:ext cx="22860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222A33"/>
                </a:solidFill>
                <a:latin typeface="Calibri"/>
              </a:rPr>
              <a:t>Recurring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123944"/>
            <a:ext cx="5486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5A636E"/>
                </a:solidFill>
                <a:latin typeface="Calibri"/>
              </a:rPr>
              <a:t>Non-SIP → SIP migration for 348 customers (~৳2.9 Cr/yr)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4123944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2E5A87"/>
                </a:solidFill>
                <a:latin typeface="Calibri"/>
              </a:rPr>
              <a:t>Head of Sales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965192"/>
            <a:ext cx="109728" cy="713232"/>
          </a:xfrm>
          <a:prstGeom prst="rect">
            <a:avLst/>
          </a:prstGeom>
          <a:solidFill>
            <a:srgbClr val="2E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965192"/>
            <a:ext cx="1463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2E5A87"/>
                </a:solidFill>
                <a:latin typeface="Calibri"/>
              </a:rPr>
              <a:t>ONGOING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965192"/>
            <a:ext cx="22860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222A33"/>
                </a:solidFill>
                <a:latin typeface="Calibri"/>
              </a:rPr>
              <a:t>Pre-empt redemptions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965192"/>
            <a:ext cx="54864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5A636E"/>
                </a:solidFill>
                <a:latin typeface="Calibri"/>
              </a:rPr>
              <a:t>Dividend-reinvest offer WITH each Jul/Jan distribution (20.4% vs 16.7% post-dividend surrenders)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965192"/>
            <a:ext cx="1828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1" i="0">
                <a:solidFill>
                  <a:srgbClr val="2E5A87"/>
                </a:solidFill>
                <a:latin typeface="Calibri"/>
              </a:rPr>
              <a:t>Marketing + PM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35508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1">
                <a:solidFill>
                  <a:srgbClr val="5A636E"/>
                </a:solidFill>
                <a:latin typeface="Calibri"/>
              </a:rPr>
              <a:t>Every number traces to apex_analysis.ipynb and the recommendation register (analysis/synthesis). ‘Performance’ throughout = flow/retention/engagement, not investment return.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